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4630400" cy="8229600"/>
  <p:notesSz cx="8229600" cy="14630400"/>
  <p:embeddedFontLst>
    <p:embeddedFont>
      <p:font typeface="Noto Sans KR" panose="020B0200000000000000" pitchFamily="50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47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E49C4-EF39-4C85-8A99-C50FB96E6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AC2C47-36F3-4A8B-BF4B-F9768E86B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88F3D-3833-4517-B958-A4D6A798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5A41-54FE-4838-A67A-1F225E9DC44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A6D958-7178-4FE9-BFEA-A241947D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100EE1-8CCF-4006-90B7-E2282199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F903-8762-47BB-A946-C25339C031F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63410E6-A05F-4E7A-8DF2-4799E37CC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3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>
            <a:extLst>
              <a:ext uri="{FF2B5EF4-FFF2-40B4-BE49-F238E27FC236}">
                <a16:creationId xmlns:a16="http://schemas.microsoft.com/office/drawing/2014/main" id="{3BDF4EAB-1CB0-4A07-A933-10B197187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ngsu52/rl-recommender-system.git" TargetMode="Externa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B93334-2907-47FB-9C48-C08AEF9D475E}"/>
              </a:ext>
            </a:extLst>
          </p:cNvPr>
          <p:cNvSpPr txBox="1"/>
          <p:nvPr/>
        </p:nvSpPr>
        <p:spPr>
          <a:xfrm>
            <a:off x="5845753" y="2625171"/>
            <a:ext cx="79959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7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강화학습을 활용한 보험 추천시스템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D29AD-B726-4C7F-BBCD-4E8B68CE7D0C}"/>
              </a:ext>
            </a:extLst>
          </p:cNvPr>
          <p:cNvSpPr txBox="1"/>
          <p:nvPr/>
        </p:nvSpPr>
        <p:spPr>
          <a:xfrm>
            <a:off x="5992842" y="5390328"/>
            <a:ext cx="7439357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학과 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6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데이터사이언스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·</a:t>
            </a:r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인공지능전공</a:t>
            </a:r>
            <a:endParaRPr lang="en-US" altLang="ko-KR" sz="216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이름 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김수진 </a:t>
            </a:r>
            <a:endParaRPr lang="en-US" altLang="ko-KR" sz="216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학번 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A70042</a:t>
            </a:r>
          </a:p>
          <a:p>
            <a:r>
              <a:rPr lang="en-US" altLang="ko-KR" sz="216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Github</a:t>
            </a:r>
            <a:r>
              <a:rPr lang="en-US" altLang="ko-KR" sz="216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</a:rPr>
              <a:t> : </a:t>
            </a:r>
            <a: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맑은 고딕 Semilight" panose="020B0502040204020203" pitchFamily="50" charset="-127"/>
                <a:hlinkClick r:id="rId2"/>
              </a:rPr>
              <a:t>https://github.com/kingsu52/rl-recommender-system.git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D1F7BA-DDDD-41C6-BA22-70AAE1E91DBE}"/>
              </a:ext>
            </a:extLst>
          </p:cNvPr>
          <p:cNvSpPr/>
          <p:nvPr/>
        </p:nvSpPr>
        <p:spPr>
          <a:xfrm>
            <a:off x="5985325" y="5141558"/>
            <a:ext cx="7439357" cy="54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050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874639"/>
            <a:ext cx="4830723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목차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2961442"/>
            <a:ext cx="241459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 Light" pitchFamily="34" charset="-120"/>
              </a:rPr>
              <a:t>01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6073" y="3341370"/>
            <a:ext cx="4071699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6073" y="3523059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개요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6073" y="3969901"/>
            <a:ext cx="4071699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연구 주제와 핵심 문제 정의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79231" y="2961442"/>
            <a:ext cx="241459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 Light" pitchFamily="34" charset="-120"/>
              </a:rPr>
              <a:t>02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79231" y="3341370"/>
            <a:ext cx="4071818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79231" y="3523059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제안배경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79231" y="3969901"/>
            <a:ext cx="4071818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선행 연구 분석 및 필요성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92508" y="2961442"/>
            <a:ext cx="241459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 Light" pitchFamily="34" charset="-120"/>
              </a:rPr>
              <a:t>03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92508" y="3341370"/>
            <a:ext cx="4071818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92508" y="3523059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세부 설명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92508" y="3969901"/>
            <a:ext cx="4071818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데이터셋, 알고리즘, 실험 결과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6073" y="4778931"/>
            <a:ext cx="241459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 Light" pitchFamily="34" charset="-120"/>
              </a:rPr>
              <a:t>04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6073" y="5158859"/>
            <a:ext cx="6228398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6073" y="5340548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기대효과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6073" y="5787390"/>
            <a:ext cx="6228398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실무 적용 가능성과 향후 방향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35929" y="4778931"/>
            <a:ext cx="241459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 Light" pitchFamily="34" charset="-120"/>
              </a:rPr>
              <a:t>05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5929" y="5158859"/>
            <a:ext cx="6228398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35929" y="5340548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참고문헌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5929" y="5787390"/>
            <a:ext cx="6228398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연구 자료 및 데이터 출처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314569"/>
            <a:ext cx="4830723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01. 프로젝트 개요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2014895"/>
            <a:ext cx="2898458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주제</a:t>
            </a:r>
            <a:endParaRPr lang="en-US" sz="2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739390"/>
            <a:ext cx="12698254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강화학습을 활용한 보험 추천 시스템 설계 및 성능 향상 실험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3397568"/>
            <a:ext cx="6228398" cy="3517463"/>
          </a:xfrm>
          <a:prstGeom prst="roundRect">
            <a:avLst>
              <a:gd name="adj" fmla="val 2884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5152" y="3646646"/>
            <a:ext cx="573024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개요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5152" y="4178022"/>
            <a:ext cx="573024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COIL2000 데이터를 활용해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기반 보험 추천 시스템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구축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5152" y="5035510"/>
            <a:ext cx="573024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 상태·행동·보상 구조를 설계하여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동적 개인화 추천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실험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5152" y="5892998"/>
            <a:ext cx="573024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DQN, Double, CQL 등 다양한 RL 알고리즘을 동일 환경에서 비교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35929" y="3397568"/>
            <a:ext cx="6228398" cy="3517463"/>
          </a:xfrm>
          <a:prstGeom prst="roundRect">
            <a:avLst>
              <a:gd name="adj" fmla="val 2884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5008" y="3646646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프로젝트 목표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5008" y="4093488"/>
            <a:ext cx="573024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기반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추천 환경 구성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5008" y="4564499"/>
            <a:ext cx="573024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RL 알고리즘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성능 비교 및 특성 분석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008" y="5035510"/>
            <a:ext cx="573024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기반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보수적 추천 전략 효과 검증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008" y="5506522"/>
            <a:ext cx="573024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실용적인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보험 추천 정책 도출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751046"/>
            <a:ext cx="4589145" cy="57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02. 프로젝트 제안배경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416248"/>
            <a:ext cx="275343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선행 연구: IEEE 2023</a:t>
            </a:r>
            <a:endParaRPr lang="en-US" sz="2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104549"/>
            <a:ext cx="12698254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Personalized Insurance Product Recommendation System based on Reinforcement Learning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6073" y="2959179"/>
            <a:ext cx="229457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연구의 필요성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6073" y="3475315"/>
            <a:ext cx="6069211" cy="146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보험 산업에서는 고객 개개인의 니즈와 행동 패턴이 매우 다양하며, 시간에 따라 변화합니다. 전통적인 규칙 기반 추천 시스템은 이러한 동적 변화를 포착하지 못하므로, </a:t>
            </a: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기반의 적응형 추천 시스템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이 필요합니다.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6073" y="5173028"/>
            <a:ext cx="229457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 구성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6073" y="5689163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사용자 행동 데이터 (과거 보험 가입 이력, 클릭 패턴)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6073" y="6136481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보험 상품 특성 데이터 (보장 범위, 보험료, 가입 조건)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6073" y="6583799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 전처리: 결측치 처리, 범주형 인코딩, 수치형 표준화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073" y="7031117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Train/Test Split을 통한 모델 검증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02736" y="2959179"/>
            <a:ext cx="251948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모델 구조 (Q-learning 기반)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02736" y="3475315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State: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사용자 특성 벡터 + 과거 행동 이력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02736" y="3922633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Action: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추천할 보험 상품 선택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02736" y="4369951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Reward: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추천 후 실제 가입 여부에 기반한 보상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02736" y="4817269"/>
            <a:ext cx="6069211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Q-learning 알고리즘을 통해 동적 추천 정책 학습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02736" y="5413772"/>
            <a:ext cx="229457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주요 성과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02736" y="5929908"/>
            <a:ext cx="6069211" cy="1101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Q-learning 기반 추천 시스템은 기존 규칙 기반 방식 대비 </a:t>
            </a: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추천 정확도를 향상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시켰으며, </a:t>
            </a: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개인화 수준 개선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과 </a:t>
            </a:r>
            <a:r>
              <a:rPr lang="en-US" sz="18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사용자 만족도 증가</a:t>
            </a:r>
            <a:r>
              <a:rPr lang="en-US" sz="1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를 달성했습니다.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35938"/>
            <a:ext cx="4830723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536263"/>
            <a:ext cx="2898458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환경 및 데이터셋</a:t>
            </a:r>
            <a:endParaRPr lang="en-US" sz="2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260759"/>
            <a:ext cx="12698254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실험은 오프라인 로그 기반으로 수행되었으며, 실제 고객 데이터 대신 공개된 </a:t>
            </a: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COIL 2000 데이터셋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을 활용했습니다.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2918936"/>
            <a:ext cx="6228398" cy="279023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8012" y="3190875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실험 환경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8012" y="3637717"/>
            <a:ext cx="5684520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오프라인 강화학습 환경에서 과거 고객 행동 로그를 기반으로 정책을 학습하고 평가합니다. 실시간 상호작용 없이 기록된 데이터만으로 학습이 진행됩니다.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35929" y="2918936"/>
            <a:ext cx="6228398" cy="279023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07868" y="3190875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COIL 2000 데이터셋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07868" y="3637717"/>
            <a:ext cx="568452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출처: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네덜란드 보험사 고객 데이터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07868" y="4108728"/>
            <a:ext cx="568452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샘플 수: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총 9,822명 (훈련: 5,822 / 평가: 4,000)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07868" y="4579739"/>
            <a:ext cx="568452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특성: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85개 (보험 보유 이력, 인구통계 정보)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07868" y="5050750"/>
            <a:ext cx="5684520" cy="38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타깃: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Caravan 보험 가입 여부 (0 또는 1)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6073" y="5980867"/>
            <a:ext cx="12698254" cy="1412796"/>
          </a:xfrm>
          <a:prstGeom prst="roundRect">
            <a:avLst>
              <a:gd name="adj" fmla="val 7181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32" y="6345674"/>
            <a:ext cx="301823" cy="2414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50814" y="6282690"/>
            <a:ext cx="11672054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 이슈:</a:t>
            </a:r>
            <a:r>
              <a:rPr lang="en-US" sz="1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가입자 비율이 약 6%에 불과하여 </a:t>
            </a:r>
            <a:r>
              <a:rPr lang="en-US" sz="19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심각한 클래스 불균형</a:t>
            </a:r>
            <a:r>
              <a:rPr lang="en-US" sz="1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이 존재합니다. 이로 인해 모델 학습 시 편향이 발생할 가능성이 있으며, 이를 완화하기 위한 전략이 필요합니다.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01172"/>
            <a:ext cx="3623072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326356"/>
            <a:ext cx="217384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State, Action, Reward 설계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1869758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환경의 핵심 구성 요소인 상태, 행동, 보상을 보험 추천 문제에 맞게 정의했습니다.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2363391"/>
            <a:ext cx="12698254" cy="2974300"/>
          </a:xfrm>
          <a:prstGeom prst="roundRect">
            <a:avLst>
              <a:gd name="adj" fmla="val 25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73693" y="2371011"/>
            <a:ext cx="12683014" cy="5223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4906" y="2487216"/>
            <a:ext cx="217050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구성 요소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95224" y="2487216"/>
            <a:ext cx="28009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65977" y="2487216"/>
            <a:ext cx="660963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설계 이유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73693" y="2893338"/>
            <a:ext cx="12683014" cy="8122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4906" y="3009543"/>
            <a:ext cx="217050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State (상태)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95224" y="3009543"/>
            <a:ext cx="28009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고객의 특성 벡터 (85차원)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65977" y="3009543"/>
            <a:ext cx="660963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고객의 보험 보유 이력, 인구통계 정보 등을 포함하여 현재 상태를 정밀하게 표현함으로써 개인화된 추천이 가능합니다.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693" y="3705582"/>
            <a:ext cx="12683014" cy="8122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54906" y="3821787"/>
            <a:ext cx="217050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Action (행동)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5224" y="3821787"/>
            <a:ext cx="280094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0: 추천 안 함1: 추천 함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65977" y="3821787"/>
            <a:ext cx="660963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실제 마케팅 캠페인에서의 의사결정(보낼지 말지)을 단순화하여 모델링했습니다. 이진 분류 구조로 구현이 간단하고 명확합니다.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3693" y="4517827"/>
            <a:ext cx="12683014" cy="8122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4906" y="4634032"/>
            <a:ext cx="217050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Reward (보상)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95224" y="4634032"/>
            <a:ext cx="280094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추천 후 가입 시: 1그 외: 0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65977" y="4634032"/>
            <a:ext cx="660963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추천의 실질적 성과(가입 여부)를 기반으로 보상을 설계하여 정책이 실질적인 성과를 학습하도록 유도합니다.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6073" y="5631939"/>
            <a:ext cx="12698254" cy="30242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6073" y="5933837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설계 원칙 요약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6073" y="6431994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State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는 고객의 다양한 특성을 반영하여, 추천 정책이 고객 맞춤형으로 학습될 수 있도록 구성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6073" y="6785253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Action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은 단순하지만 실제 마케팅 의사결정과 유사하여 실용적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6073" y="7138511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Reward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는 명확하고 측정 가능한 목표(가입 여부)를 기반으로 하여 학습 안정성 확보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005483"/>
            <a:ext cx="3623072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530668"/>
            <a:ext cx="217384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알고리즘 비교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074069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본 연구에서는 네 가지 강화학습 알고리즘을 비교 실험했습니다.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2567702"/>
            <a:ext cx="12698254" cy="4656296"/>
          </a:xfrm>
          <a:prstGeom prst="roundRect">
            <a:avLst>
              <a:gd name="adj" fmla="val 16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73693" y="2575322"/>
            <a:ext cx="12683014" cy="5223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5144" y="2691527"/>
            <a:ext cx="153638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알고리즘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61335" y="2691527"/>
            <a:ext cx="153257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유형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63716" y="2691527"/>
            <a:ext cx="343507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설명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68596" y="2691527"/>
            <a:ext cx="216669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장점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305103" y="2691527"/>
            <a:ext cx="217050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단점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3693" y="3097649"/>
            <a:ext cx="12683014" cy="11021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55144" y="3213854"/>
            <a:ext cx="153638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61335" y="3213854"/>
            <a:ext cx="153257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Value-basedOff-policy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3716" y="3213854"/>
            <a:ext cx="343507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단일 Q-network로 상태–행동 가치(Q)를 직접 추정하는 기본형 강화학습 알고리즘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68596" y="3213854"/>
            <a:ext cx="2166699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구조 단순구현 용이빠른 학습 가능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05103" y="3213854"/>
            <a:ext cx="217050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 과대추정 발생 가능정책 변동성 높음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3693" y="4199811"/>
            <a:ext cx="12683014" cy="8122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5144" y="4316016"/>
            <a:ext cx="153638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Double DQN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61335" y="4316016"/>
            <a:ext cx="153257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Value-basedOff-policy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63716" y="4316016"/>
            <a:ext cx="343507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두 개의 Q-network를 사용해 Q-value 과대추정을 완화한 개선형 DQN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68596" y="4316016"/>
            <a:ext cx="216669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과대추정 감소정책 안정성 향상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05103" y="4316016"/>
            <a:ext cx="217050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추가 네트워크로 계산량 증가튜닝 필요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3693" y="5012055"/>
            <a:ext cx="12683014" cy="11021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5144" y="5128260"/>
            <a:ext cx="153638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61335" y="5128260"/>
            <a:ext cx="153257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Offline RLConservative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63716" y="5128260"/>
            <a:ext cx="343507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Q-value를 보수적으로 학습하여 과도한 행동 선택을 억제하는 Offline RL 알고리즘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68596" y="5128260"/>
            <a:ext cx="216669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보수적 정책 형성불필요한 행동 감소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305103" y="5128260"/>
            <a:ext cx="2170509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보수성으로 인해 Q-value가 낮게 형성될 수 있음탐색이 제한될 수 있음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3693" y="6114217"/>
            <a:ext cx="12683014" cy="11021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5144" y="6230422"/>
            <a:ext cx="153638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+ Double DQN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61335" y="6230422"/>
            <a:ext cx="153257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HybridOffline RL + Value-based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63716" y="6230422"/>
            <a:ext cx="343507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CQL의 보수성과 Double DQN의 안정성을 결합한 하이브리드 구조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68596" y="6230422"/>
            <a:ext cx="216669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 안정성 향상과대추정 완화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305103" y="6230422"/>
            <a:ext cx="217050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모델 복잡도 증가하이퍼파라미터 조정 필요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878" y="649367"/>
            <a:ext cx="3022402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9878" y="1087517"/>
            <a:ext cx="1813441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하이퍼파라미터 설정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9878" y="1540669"/>
            <a:ext cx="1277064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모델 학습의 안정성과 성능을 좌우하는 주요 하이퍼파라미터를 다음과 같이 설정했습니다.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29878" y="2178844"/>
            <a:ext cx="6309717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9878" y="2163604"/>
            <a:ext cx="6309717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58042" y="1952268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4011" y="2088237"/>
            <a:ext cx="181332" cy="181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6208" y="2556629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Learning Rate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6208" y="2836069"/>
            <a:ext cx="5977057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1e-3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Q-network가 얼마나 빠르게 업데이트되는지를 결정합니다. 너무 크면 학습이 불안정하고, 너무 작으면 학습이 느려집니다.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90686" y="2178844"/>
            <a:ext cx="6309836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90686" y="2163604"/>
            <a:ext cx="6309836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318968" y="1952268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4938" y="2088237"/>
            <a:ext cx="181332" cy="1813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57016" y="2556629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Batch Size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57016" y="2836069"/>
            <a:ext cx="5977176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64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Replay Buffer에서 한 번에 샘플링하는 경험 수입니다. 안정적 학습을 위해 적절한 크기가 필요합니다.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29878" y="4105156"/>
            <a:ext cx="6309717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29878" y="4089916"/>
            <a:ext cx="6309717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858042" y="3878580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4011" y="4014549"/>
            <a:ext cx="181332" cy="1813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6208" y="4482941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Discount Factor (γ)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096208" y="4762381"/>
            <a:ext cx="5977057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0.99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미래 보상을 얼마나 중요하게 보는지 결정합니다. 보험 추천처럼 장기 가치가 중요한 문제에서 높은 γ를 사용합니다.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390686" y="4105156"/>
            <a:ext cx="6309836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390686" y="4089916"/>
            <a:ext cx="6309836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10318968" y="3878580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54938" y="4014549"/>
            <a:ext cx="181332" cy="1813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57016" y="4482941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Epsilon Decay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557016" y="4762381"/>
            <a:ext cx="5977176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0.995 → 0.1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탐험(랜덤 추천) 비율을 점진적으로 줄이는 비율입니다. 초기에는 탐험, 후반에는 정책 활용 중심으로 전환됩니다.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929878" y="6031468"/>
            <a:ext cx="6309717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29878" y="6016228"/>
            <a:ext cx="6309717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3858042" y="5804892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4011" y="5940862"/>
            <a:ext cx="181332" cy="1813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6208" y="6409253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α (Penalty Strength)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1096208" y="6688693"/>
            <a:ext cx="5977057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1.0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CQL에서 보수성을 조절하는 파라미터입니다. α가 높을수록 과추천을 억제하고 Q-value를 낮게 학습합니다.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7390686" y="6031468"/>
            <a:ext cx="6309836" cy="1548646"/>
          </a:xfrm>
          <a:prstGeom prst="roundRect">
            <a:avLst>
              <a:gd name="adj" fmla="val 4724"/>
            </a:avLst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7390686" y="6016228"/>
            <a:ext cx="6309836" cy="60960"/>
          </a:xfrm>
          <a:prstGeom prst="roundRect">
            <a:avLst>
              <a:gd name="adj" fmla="val 1041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10318968" y="5804892"/>
            <a:ext cx="453271" cy="453271"/>
          </a:xfrm>
          <a:prstGeom prst="roundRect">
            <a:avLst>
              <a:gd name="adj" fmla="val 201734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4938" y="5940862"/>
            <a:ext cx="181332" cy="1813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57016" y="6409253"/>
            <a:ext cx="1511141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Optimizer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7557016" y="6688693"/>
            <a:ext cx="5977176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값: Adam</a:t>
            </a:r>
            <a:r>
              <a:rPr lang="en-US" sz="11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비선형 모델 학습에 적합한 최적화 알고리즘으로, 안정적이고 빠른 수렴을 지원합니다.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081326"/>
            <a:ext cx="3623072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606510"/>
            <a:ext cx="241565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평가 지표 (Evaluation Metric)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149912"/>
            <a:ext cx="1269825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보험 추천 정책의 품질을 정량적으로 평가하기 위한 핵심 지표를 정의했습니다.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2643545"/>
            <a:ext cx="4111943" cy="2306717"/>
          </a:xfrm>
          <a:prstGeom prst="roundRect">
            <a:avLst>
              <a:gd name="adj" fmla="val 329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54787" y="2832259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4211" y="2981563"/>
            <a:ext cx="244554" cy="2445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4787" y="3556754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Episode Reward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54787" y="3891796"/>
            <a:ext cx="3734514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한 에피소드 동안 얻은 총 보상으로, 추천 정책의 </a:t>
            </a: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전체 성과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를 나타냅니다. 보험 가입률이 낮은 환경에서는 reward가 낮게 형성되는 특징이 있습니다.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59110" y="2643545"/>
            <a:ext cx="4112062" cy="2306717"/>
          </a:xfrm>
          <a:prstGeom prst="roundRect">
            <a:avLst>
              <a:gd name="adj" fmla="val 329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47824" y="2832259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7247" y="2981563"/>
            <a:ext cx="244554" cy="2445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7824" y="3556754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Action1 Ratio (추천 비율)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47824" y="3891796"/>
            <a:ext cx="373463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전체 행동 중 "추천(1)"을 선택한 비율로, 정책의 </a:t>
            </a: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공격성/보수성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을 판단합니다. 과도한 추천은 비용 증가를, 너무 낮으면 기회 손실을 야기합니다.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552265" y="2643545"/>
            <a:ext cx="4112062" cy="2306717"/>
          </a:xfrm>
          <a:prstGeom prst="roundRect">
            <a:avLst>
              <a:gd name="adj" fmla="val 329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740979" y="2832259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0403" y="2981563"/>
            <a:ext cx="244554" cy="2445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40979" y="3556754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 Stability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9740979" y="3891796"/>
            <a:ext cx="373463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Q(s, a)의 분포 안정성으로, </a:t>
            </a: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정책 신뢰도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를 평가하는 핵심 지표입니다. 과대추정 여부, 분포 폭, 변동성 등을 통해 정책 품질을 판단합니다.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66073" y="5131356"/>
            <a:ext cx="6258520" cy="2016800"/>
          </a:xfrm>
          <a:prstGeom prst="roundRect">
            <a:avLst>
              <a:gd name="adj" fmla="val 377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1154787" y="5320070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4211" y="5469374"/>
            <a:ext cx="244554" cy="2445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4787" y="6044565"/>
            <a:ext cx="1811536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Policy Consistency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54787" y="6379607"/>
            <a:ext cx="588109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추천 행동이 시간에 따라 얼마나 일관적인지를 나타냅니다. 보험 추천에서는 </a:t>
            </a:r>
            <a:r>
              <a:rPr lang="en-US" sz="14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정책 안정성</a:t>
            </a: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이 매우 중요하며, 추천 기준이 흔들리면 실무 적용이 어렵습니다.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405688" y="5131356"/>
            <a:ext cx="6258639" cy="2016800"/>
          </a:xfrm>
          <a:prstGeom prst="roundRect">
            <a:avLst>
              <a:gd name="adj" fmla="val 3773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7594402" y="5320070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3825" y="5469374"/>
            <a:ext cx="244554" cy="2445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94402" y="6044565"/>
            <a:ext cx="2322909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Exploration vs Exploitation Balance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594402" y="6379607"/>
            <a:ext cx="588121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Epsilon 변화에 따른 탐험/활용 비율로, 초기 탐험이 충분했는지, 후반 정책 활용이 안정적인지를 평가합니다.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799267"/>
            <a:ext cx="3381494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6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289566"/>
            <a:ext cx="202882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 vs CQL 성능 비교</a:t>
            </a:r>
            <a:endParaRPr lang="en-US" sz="15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3" y="1986915"/>
            <a:ext cx="3635097" cy="20098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6073" y="4186952"/>
            <a:ext cx="1690688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DQN: 점진적 보상 상승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6073" y="4567357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초반: 110~130대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6073" y="4897041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후반: 140~160대까지 상승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6073" y="5226725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마지막 에피소드(50):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128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6073" y="5556409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최고 보상: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163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6073" y="5979081"/>
            <a:ext cx="6142911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DQN은 공격적으로 Q값을 키우며 점점 더 많은 추천을 시도하고, 그 결과 보상도 증가하는 패턴을 보입니다. COIL2000처럼 "추천하면 가입할 확률이 꽤 있는" 데이터에서는 DQN이 유리하게 작동합니다.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036" y="1986915"/>
            <a:ext cx="3920490" cy="21677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9036" y="4344829"/>
            <a:ext cx="217050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CQL: 보수적 정책으로 보상 감소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529036" y="4725233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초반: 120~130대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29036" y="5054918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중반: 110~125대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29036" y="5384602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후반: 90~115대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29036" y="5714286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마지막 에피소드(50):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92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29036" y="6043970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최고 보상: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137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529036" y="6466642"/>
            <a:ext cx="6142911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CQL은 보수적 정책을 학습하기 때문에 추천을 덜 하게 되고, 그 결과 보상이 줄어드는 경향을 보입니다. 특히 후반부에 보상이 90대까지 떨어지는 것은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CQL의 conservative penalty가 강하게 작동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하고 있다는 증거입니다.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27961"/>
            <a:ext cx="4347686" cy="543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3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458397"/>
            <a:ext cx="2787968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 vs CQL 성능 비교 결론</a:t>
            </a:r>
            <a:endParaRPr lang="en-US" sz="2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6073" y="3998000"/>
            <a:ext cx="12698254" cy="30480"/>
          </a:xfrm>
          <a:prstGeom prst="roundRect">
            <a:avLst>
              <a:gd name="adj" fmla="val 299547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6073" y="2110383"/>
            <a:ext cx="6213277" cy="1887617"/>
          </a:xfrm>
          <a:prstGeom prst="roundRect">
            <a:avLst>
              <a:gd name="adj" fmla="val 483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85730" y="2335292"/>
            <a:ext cx="217384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DQN의 우수성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90982" y="2737366"/>
            <a:ext cx="5763458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COIL2000 환경에서 DQN이 더 높은 보상을 달성했습니다. 데이터의 특성상 추천을 많이 할수록 가입 가능성이 높은 고객을 발견할 확률이 증가하기 때문입니다.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1050" y="4028480"/>
            <a:ext cx="6213277" cy="1887617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70708" y="4245769"/>
            <a:ext cx="2173843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CQL의 한계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75959" y="4647843"/>
            <a:ext cx="5763458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CQL은 보수적인 접근으로 인해 추천을 덜 하게 되고, 그 결과 보상이 낮아지는 경향을 보였습니다. Offline RL의 안정성을 추구하지만, 공격적 추천이 유리한 환경에서는 성과가 제한적입니다.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6073" y="6130171"/>
            <a:ext cx="12698254" cy="1271349"/>
          </a:xfrm>
          <a:prstGeom prst="roundRect">
            <a:avLst>
              <a:gd name="adj" fmla="val 718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362" y="6463070"/>
            <a:ext cx="271701" cy="21728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72352" y="6401753"/>
            <a:ext cx="11774686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핵심 인사이트:</a:t>
            </a:r>
            <a:r>
              <a:rPr lang="en-US" sz="17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DQN은 COIL2000 데이터셋의 특성(추천 시 가입률이 상대적으로 높은 구조)에 잘 맞는 알고리즘이며, CQL의 보수성은 이러한 환경에서는 오히려 성과를 제한하는 요인으로 작용했습니다.</a:t>
            </a:r>
            <a:endParaRPr lang="en-US" sz="1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67132"/>
            <a:ext cx="3381494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6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357432"/>
            <a:ext cx="202882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Alpha 값 최적화</a:t>
            </a:r>
            <a:endParaRPr lang="en-US" sz="15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1864638"/>
            <a:ext cx="1269825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CQL의 보수성을 조절하는 핵심 하이퍼파라미터인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값을 다양하게 실험했습니다.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3" y="2515433"/>
            <a:ext cx="3772495" cy="20532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6073" y="4758809"/>
            <a:ext cx="1735812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 값에 따른 보상 변화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6073" y="5139214"/>
            <a:ext cx="614291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실험한 alpha 값: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0.1, 0.5, 1.0, 2.0, 5.0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6073" y="5561886"/>
            <a:ext cx="614291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Alpha가 너무 작으면 (0.1, 0.5):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CQL이 DQN처럼 행동하여 보수성이 약해지고, 추천을 많이 하므로 리워드가 높게 나오지만 안정성은 낮습니다.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6073" y="6162080"/>
            <a:ext cx="614291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Alpha가 너무 크면 (5.0):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평균 리워드가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105.5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로 크게 떨어지며, 추천을 거의 하지 않기 때문에 reward가 낮아집니다. CQL의 보수적 특성이 과도하게 작동한 결과입니다.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6073" y="6762274"/>
            <a:ext cx="614291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Alpha=2.0이 최적: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보수성과 성능의 균형점을 이루며, 추천 비율이 적절하고 안정적입니다. COIL2000의 "추천하면 가입 확률이 높은 구조"에 가장 적합합니다.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036" y="2515433"/>
            <a:ext cx="3835837" cy="21209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9036" y="4826556"/>
            <a:ext cx="1690688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결론: Alpha = 2.0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529036" y="5206960"/>
            <a:ext cx="614291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Alpha = 2.0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이 가장 높은 평균 보상(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131.28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)을 기록하며 COIL2000 환경에서 </a:t>
            </a:r>
            <a:r>
              <a:rPr lang="en-US" sz="13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최적의 보수성 수준</a:t>
            </a: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을 제공합니다.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29036" y="5900142"/>
            <a:ext cx="614291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이는 과도한 추천을 억제하면서도 충분한 탐색을 통해 가입 가능성이 높은 고객을 효과적으로 발견하는 균형점입니다.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521" y="509826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1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1521" y="859155"/>
            <a:ext cx="1483757" cy="18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4가지 알고리즘 종합 비교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1521" y="1220629"/>
            <a:ext cx="13147358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DQN, Double DQN, CQL, CQL+Double DQN의 성능을 episode_len=20 환경에서 비교했습니다.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1521" y="1669375"/>
            <a:ext cx="1205032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실험 목적 및 결과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1521" y="1940481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목적: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보험 추천 정책 학습 환경에서 각 알고리즘의 성능 비교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1521" y="2253734"/>
            <a:ext cx="1205032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주요 결과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1521" y="2524839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전체 Reward 낮음: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극단적 클래스 불균형과 sparse reward의 영향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1521" y="275975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가장 불안정 (추천 비율 변동 심함, reward 개선 미미)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1521" y="299466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Double DQN: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안정성 증가 (과대추정 완화 효과)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1521" y="322957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보수적 정책 (불필요한 추천 감소, 비용 절감 효과)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1521" y="3464481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CQL+Double: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가장 안정적 (정책 일관성 최고)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1521" y="3777734"/>
            <a:ext cx="1205032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알고리즘 성향 비교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1521" y="4048839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공격적·불안정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1521" y="428375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Double DQN: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균형형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1521" y="451866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비용 절감형(보수적)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1521" y="4753570"/>
            <a:ext cx="7770852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CQL+Double: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안정적·신뢰도 높음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13840" y="1669375"/>
            <a:ext cx="1205032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결론 및 권장 사항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13840" y="1940481"/>
            <a:ext cx="5082540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CQL+Double DQN = 최적 정책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정책 안정성과 신뢰도가 가장 높아 실무 적용에 가장 적합합니다.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13840" y="2434352"/>
            <a:ext cx="5082540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Double DQN = 실무 적용 가능성 높음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과대추정을 완화하면서도 적절한 추천 비율을 유지합니다.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13840" y="2928223"/>
            <a:ext cx="5082540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= 보수적 전략 필요 시 적합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비용 절감이 중요한 경우에 유리합니다.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13840" y="3422094"/>
            <a:ext cx="5082540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 = 실무 적용 부적합</a:t>
            </a:r>
            <a:r>
              <a:rPr lang="en-US" sz="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정책 변동성이 크고 불안정합니다.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21" y="5123974"/>
            <a:ext cx="3871436" cy="1756529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41521" y="7015996"/>
            <a:ext cx="13147358" cy="704731"/>
          </a:xfrm>
          <a:prstGeom prst="roundRect">
            <a:avLst>
              <a:gd name="adj" fmla="val 7182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7198281"/>
            <a:ext cx="150614" cy="12049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33118" y="7166610"/>
            <a:ext cx="12635270" cy="38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 해석:</a:t>
            </a: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Q-value는 "각 상태에서 특정 행동을 했을 때 기대되는 미래 보상"을 나타냅니다. 즉, </a:t>
            </a:r>
            <a:r>
              <a:rPr lang="en-US" sz="9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Q(s, a) = 지금 상태 s에서 행동 a를 했을 때 앞으로 받을 보상의 기대값</a:t>
            </a:r>
            <a:r>
              <a:rPr lang="en-US" sz="9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입니다. Q-value 분포를 통해 CQL+Double이 가장 안정적이고 과대추정이 없는 정책을 학습했음을 확인할 수 있습니다.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9753" y="604838"/>
            <a:ext cx="2859286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03. 프로젝트 세부설명</a:t>
            </a:r>
            <a:endParaRPr lang="en-US" sz="2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9753" y="1019413"/>
            <a:ext cx="1715572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알고리즘 구조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9753" y="1448276"/>
            <a:ext cx="12870894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알고리즘의 핵심 구조와 학습 방식을 상세히 설명합니다.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9753" y="1980605"/>
            <a:ext cx="1435537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1. 환경(Environment) 구조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9753" y="2302193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 20명을 하나의 episode로 구성한 </a:t>
            </a:r>
            <a:r>
              <a:rPr lang="en-US" sz="11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멀티 스텝 환경</a:t>
            </a: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입니다.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9753" y="2659499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행동: 추천(1) / 비추천(0)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9753" y="2938224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보상: 추천했고 실제 가입 시 1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9753" y="3216950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Sparse reward 특성으로 강화학습 난이도 증가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79753" y="3606403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2609" y="3606403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5484" y="3713559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reward = 1 if action==1 and y[idx]==1 else 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9753" y="4210169"/>
            <a:ext cx="1429583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2. Q-Network 구조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9753" y="4531757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입력: 고객 상태(85개 feature)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9753" y="4810482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출력: 행동별 Q-value (0/1)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9753" y="5089208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모든 알고리즘(DQN/Double/CQL)이 동일한 네트워크 사용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79753" y="5478661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2609" y="5478661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5484" y="5585817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Linear(85→128) → ReLU → Linear(128→64) → ReLU → Linear(64→2)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9753" y="6082427"/>
            <a:ext cx="1429583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3. Replay Buffer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9753" y="6404015"/>
            <a:ext cx="6261140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과거 경험을 저장하여 샘플링 기반 학습을 수행합니다. 데이터 상관성을 감소시켜 안정적 학습을 가능하게 합니다.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9753" y="7022187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2609" y="7022187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15484" y="7129343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self.buffer.append((s, a, r, s_, d))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97128" y="1980605"/>
            <a:ext cx="1429583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4. ε-greedy 정책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97128" y="2302193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ε 확률로 탐험, 1-ε 확률로 Q-value 기반 행동을 선택합니다. 학습이 진행될수록 ε이 감소합니다.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97128" y="2691646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89984" y="2691646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32859" y="2798802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if random.random() &lt; epsilon: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7128" y="3295412"/>
            <a:ext cx="2317433" cy="17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5. 알고리즘별 학습 방식 차이 (Loss 중심)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97128" y="3617000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DQN:</a:t>
            </a: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max(Q)을 사용해 target 계산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97128" y="4006453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89984" y="4006453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32859" y="4113609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target = r + γ * max(Q(s'))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97128" y="4610219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Double DQN:</a:t>
            </a: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행동 선택(q_net)과 평가(target_net)를 분리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97128" y="4999673"/>
            <a:ext cx="6261140" cy="671751"/>
          </a:xfrm>
          <a:prstGeom prst="roundRect">
            <a:avLst>
              <a:gd name="adj" fmla="val 8939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89984" y="4999673"/>
            <a:ext cx="6275427" cy="671751"/>
          </a:xfrm>
          <a:prstGeom prst="roundRect">
            <a:avLst>
              <a:gd name="adj" fmla="val 3192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32859" y="5106829"/>
            <a:ext cx="5989677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next_actions = q_net(s_).argmax()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next_q = target_net(s_).gather(next_actions)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97128" y="5832158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CQL:</a:t>
            </a: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Conservative penalty로 Q-value를 보수적으로 학습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7128" y="6221611"/>
            <a:ext cx="6261140" cy="443032"/>
          </a:xfrm>
          <a:prstGeom prst="roundRect">
            <a:avLst>
              <a:gd name="adj" fmla="val 13554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89984" y="6221611"/>
            <a:ext cx="6275427" cy="443032"/>
          </a:xfrm>
          <a:prstGeom prst="roundRect">
            <a:avLst>
              <a:gd name="adj" fmla="val 4841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32859" y="6328767"/>
            <a:ext cx="598967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EAEAEA"/>
                </a:highlight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cql_penalty = logsumexp(Q_all) - Q_logged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7128" y="6825377"/>
            <a:ext cx="62611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CQL + Double:</a:t>
            </a:r>
            <a:r>
              <a:rPr lang="en-US" sz="11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Double의 target 계산 + CQL penalty 결합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892612"/>
            <a:ext cx="4106108" cy="51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04. 프로젝트 기대효과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6073" y="1487924"/>
            <a:ext cx="2463641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연구 성과 및 향후 방향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073" y="2103715"/>
            <a:ext cx="12698254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핵심 결론: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CQL+Double DQN이 가장 안정적이며, 불필요한 추천을 줄이고 가입 가능성이 높은 고객에게 집중하는 최적의 보험 추천 정책을 제공합니다.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6073" y="2868216"/>
            <a:ext cx="205299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개선 필요 사항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6073" y="3330059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 불균형 완화: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가입 고객이 희소하여 학습 신호가 부족한 문제 해결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6073" y="4058602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보상 구조 고도화: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단순 가입 여부를 넘어 상담 전환, 유지율, LTV(고객 생애 가치) 반영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6073" y="4787146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 상태 표현 강화: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프로파일링, Embedding, AutoEncoder 등 고급 특성 추출 기법 적용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6073" y="5515689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정책 안정성 개선: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학습률 조정, 타깃 네트워크 업데이트 주기 최적화, 정규화 기법 도입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73208" y="2868216"/>
            <a:ext cx="205299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향후 연구 방향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73208" y="3330059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Offline → Online RL 전환: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실제 고객 반응을 기반으로 정책을 미세 조정하는 단계로 발전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73208" y="4058602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OPE 기반 정책 검증: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IPS(Inverse Propensity Scoring)/DR(Doubly Robust) 등으로 리스크 최소화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73208" y="4787146"/>
            <a:ext cx="609873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고객군별 맞춤형 정책: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연령, 소득, 보유 보험별 세그먼트 최적화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73208" y="5187315"/>
            <a:ext cx="609873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Q-value 기반 추천 Threshold 최적화: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추천 기준을 더욱 정교화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73208" y="5587484"/>
            <a:ext cx="609873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장기 가치(LTV) 중심 추천 전략:</a:t>
            </a: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 단기 가입보다 장기 유지 및 수익성 중심으로 전환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73969" y="6777752"/>
            <a:ext cx="1239035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"CQL+Double DQN은 보험 추천에서 가장 안정적이고 실무적 가치가 높은 정책입니다."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6073" y="6546890"/>
            <a:ext cx="22860" cy="790099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650921"/>
            <a:ext cx="4830723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05. 참고문헌</a:t>
            </a:r>
            <a:endParaRPr lang="en-US" sz="3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66073" y="2737723"/>
            <a:ext cx="4071699" cy="3840956"/>
          </a:xfrm>
          <a:prstGeom prst="roundRect">
            <a:avLst>
              <a:gd name="adj" fmla="val 3809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35593" y="2737723"/>
            <a:ext cx="121920" cy="3840956"/>
          </a:xfrm>
          <a:prstGeom prst="roundRect">
            <a:avLst>
              <a:gd name="adj" fmla="val 83207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29452" y="3009662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선행 연구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9452" y="3456503"/>
            <a:ext cx="3436382" cy="154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Personalized Insurance Product Recommendation System based on Reinforcement Learning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IEEE, 2023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9452" y="5147310"/>
            <a:ext cx="3436382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강화학습 기반 보험 추천 시스템의 이론적 기반을 제공한 핵심 논문입니다.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79231" y="2737723"/>
            <a:ext cx="4071818" cy="3840956"/>
          </a:xfrm>
          <a:prstGeom prst="roundRect">
            <a:avLst>
              <a:gd name="adj" fmla="val 3809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48751" y="2737723"/>
            <a:ext cx="121920" cy="3840956"/>
          </a:xfrm>
          <a:prstGeom prst="roundRect">
            <a:avLst>
              <a:gd name="adj" fmla="val 83207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42610" y="3009662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데이터셋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42610" y="3456503"/>
            <a:ext cx="3436501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Insurance Company Benchmark (COIL 2000)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42610" y="4374356"/>
            <a:ext cx="3436501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네덜란드 보험사의 고객 데이터로, 보험 추천 연구에서 널리 사용되는 공개 데이터셋입니다.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92508" y="2737723"/>
            <a:ext cx="4071818" cy="3840956"/>
          </a:xfrm>
          <a:prstGeom prst="roundRect">
            <a:avLst>
              <a:gd name="adj" fmla="val 3809"/>
            </a:avLst>
          </a:prstGeom>
          <a:solidFill>
            <a:srgbClr val="F7F7F7"/>
          </a:solidFill>
          <a:ln w="304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62028" y="2737723"/>
            <a:ext cx="121920" cy="3840956"/>
          </a:xfrm>
          <a:prstGeom prst="roundRect">
            <a:avLst>
              <a:gd name="adj" fmla="val 83207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55887" y="3009662"/>
            <a:ext cx="2415302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국내 연구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55887" y="3456503"/>
            <a:ext cx="3436501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유사도를 활용한 맞춤형 보험 추천 시스템</a:t>
            </a: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김준성, 조아라, 오하영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55887" y="4760833"/>
            <a:ext cx="3436501" cy="1159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국내에서 수행된 보험 추천 시스템 연구로, 유사도 기반 접근법을 제시했습니다.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5AC40-0DE2-4204-93F1-E29FD6C72110}"/>
              </a:ext>
            </a:extLst>
          </p:cNvPr>
          <p:cNvSpPr txBox="1"/>
          <p:nvPr/>
        </p:nvSpPr>
        <p:spPr>
          <a:xfrm>
            <a:off x="5804123" y="3694874"/>
            <a:ext cx="7858806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792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Thank you!</a:t>
            </a:r>
            <a:endParaRPr lang="ko-KR" altLang="en-US" sz="792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A79270-7E33-43B7-A3DE-3C3865D44775}"/>
              </a:ext>
            </a:extLst>
          </p:cNvPr>
          <p:cNvSpPr/>
          <p:nvPr/>
        </p:nvSpPr>
        <p:spPr>
          <a:xfrm>
            <a:off x="5955125" y="5141558"/>
            <a:ext cx="7439357" cy="54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6FE70E-F4D2-F932-19BB-F3707EDE5ECB}"/>
              </a:ext>
            </a:extLst>
          </p:cNvPr>
          <p:cNvSpPr/>
          <p:nvPr/>
        </p:nvSpPr>
        <p:spPr>
          <a:xfrm>
            <a:off x="9871899" y="5361295"/>
            <a:ext cx="3522583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데이터사이언스·인공지능전공</a:t>
            </a:r>
            <a:endParaRPr lang="en-US" sz="225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AA10B94-5461-396F-80C8-0DEBE4DD6F1B}"/>
              </a:ext>
            </a:extLst>
          </p:cNvPr>
          <p:cNvSpPr/>
          <p:nvPr/>
        </p:nvSpPr>
        <p:spPr>
          <a:xfrm>
            <a:off x="9871900" y="5820043"/>
            <a:ext cx="3522582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atrick Hand" pitchFamily="34" charset="-120"/>
              </a:rPr>
              <a:t>김수진 | A70042</a:t>
            </a:r>
            <a:endParaRPr lang="en-US" sz="225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853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2264</Words>
  <Application>Microsoft Office PowerPoint</Application>
  <PresentationFormat>Custom</PresentationFormat>
  <Paragraphs>263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Noto Sans KR</vt:lpstr>
      <vt:lpstr>맑은 고딕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SUJIN KIM</dc:creator>
  <cp:lastModifiedBy>SUJIN KIM</cp:lastModifiedBy>
  <cp:revision>3</cp:revision>
  <dcterms:created xsi:type="dcterms:W3CDTF">2025-12-06T21:09:42Z</dcterms:created>
  <dcterms:modified xsi:type="dcterms:W3CDTF">2025-12-06T22:32:21Z</dcterms:modified>
</cp:coreProperties>
</file>